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75" d="100"/>
          <a:sy n="175" d="100"/>
        </p:scale>
        <p:origin x="-2424" y="-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2430"/>
              </a:solidFill>
              <a:effectLst/>
            </c:spPr>
          </c:dPt>
          <c:dPt>
            <c:idx val="1"/>
            <c:bubble3D val="0"/>
            <c:spPr>
              <a:solidFill>
                <a:srgbClr val="E8722C"/>
              </a:solidFill>
              <a:effectLst/>
            </c:spPr>
          </c:dPt>
          <c:dPt>
            <c:idx val="2"/>
            <c:bubble3D val="0"/>
            <c:spPr>
              <a:solidFill>
                <a:srgbClr val="7C8CA0"/>
              </a:solidFill>
              <a:effectLst/>
            </c:spPr>
          </c:dPt>
          <c:dPt>
            <c:idx val="3"/>
            <c:bubble3D val="0"/>
            <c:spPr>
              <a:solidFill>
                <a:srgbClr val="C7CFD8"/>
              </a:solidFill>
              <a:effectLst/>
            </c:spPr>
          </c:dPt>
          <c:dLbls>
            <c:dLbl>
              <c:idx val="0"/>
              <c:layout/>
              <c:numFmt formatCode="0&quot;%&quot;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/>
              <c:numFmt formatCode="0&quot;%&quot;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/>
              <c:numFmt formatCode="0&quot;%&quot;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/>
              <c:numFmt formatCode="0&quot;%&quot;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Final Exam</c:v>
                </c:pt>
                <c:pt idx="1">
                  <c:v>Midterm / Final Project*</c:v>
                </c:pt>
                <c:pt idx="2">
                  <c:v>Homework (best 5/6)</c:v>
                </c:pt>
                <c:pt idx="3">
                  <c:v>Participation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30</c:v>
                </c:pt>
                <c:pt idx="2">
                  <c:v>25</c:v>
                </c:pt>
                <c:pt idx="3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50088D-F9A7-4B3A-9B12-8875F76A3D67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11279E-F68C-4993-A56E-E07EE3B66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685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2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18.pn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4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5.png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1: What Is an Operating System?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operating systems exist, how they're built, and the boundary they enforce.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1280160" cy="36576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5989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Swann Thantsin  •  Fall 2026  •  Thursdays, 6:30–9:10 PM, Ingersoll 1141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 — Lecture 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9601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overview, grading, and policies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operating systems exist — life without one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an operating system, and a brief history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space vs. user space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calls: the boundary, and how they work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operating systems are structured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Multiprogramming, multitasking, multiprocessing &amp; multithreading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Interrupts and the boot process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course builds in Python, user-space only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Logistics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029200" cy="4434840"/>
          </a:xfrm>
          <a:prstGeom prst="roundRect">
            <a:avLst>
              <a:gd name="adj" fmla="val 2474"/>
            </a:avLst>
          </a:prstGeom>
          <a:solidFill>
            <a:srgbClr val="1B2430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777240" cy="777240"/>
          </a:xfrm>
          <a:prstGeom prst="ellipse">
            <a:avLst/>
          </a:prstGeom>
          <a:solidFill>
            <a:srgbClr val="27334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1488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933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Swann Thantsin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828800" y="23591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017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8680" y="32918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Thursday, 6:30 – 9:10 PM — Ingersoll 1141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68680" y="37947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HOURS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68680" y="40690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Thursday, 5:30 – 6:30 PM — 2109 Ingersoll, or by appointment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68680" y="45720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68680" y="484632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Swann.Thantsin@brooklyn.cuny.edu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68680" y="53492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68680" y="56235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 of student email — please allow a day or two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943600" y="16916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Expect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943600" y="2240280"/>
            <a:ext cx="56692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project-oriented systems course — you'll spend more time in a terminal than in slides.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textbook: notes and readings are handed out each class.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assignment runs on real Linux system calls, via a Debian VM you'll set up next lecture.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semester you'll have built a working shell, scheduler, memory allocator, and file system — and integrated them into a final project.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1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DESCRIPTION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Course Covers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09397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06040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2971800"/>
            <a:ext cx="2962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Creation, states, and the fork/exec/wait lifecycle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9432" y="194767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209397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9432" y="2606040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 Scheduling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99432" y="2971800"/>
            <a:ext cx="2962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FCFS, Round Robin, MLFQ, and priority policies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94192" y="194767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0496" y="209397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94192" y="2606040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Concurrency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94192" y="2971800"/>
            <a:ext cx="2962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conditions, locks, semaphores, deadlock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18795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4334256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846320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Management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04672" y="5212080"/>
            <a:ext cx="2962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spaces, paging, allocation policies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43400" y="39319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9432" y="418795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5736" y="4334256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99432" y="4846320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Systems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99432" y="5212080"/>
            <a:ext cx="2962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Inodes, directories, block allocation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38160" y="39319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94192" y="418795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0496" y="4334256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94192" y="4846320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I/O, IPC &amp; Networking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94192" y="5212080"/>
            <a:ext cx="2962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Pipes, sockets, signals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1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COURSE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Goals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83794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6420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core OS concepts and mechanisms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371600" y="19659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Processes, scheduling, concurrency, memory, and file systems — and the trade-offs behind each.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587752"/>
            <a:ext cx="566928" cy="566928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273405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56032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real systems software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371600" y="286207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software that uses actual OS-level interfaces, not just simulations.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483864"/>
            <a:ext cx="566928" cy="566928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363016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456432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 correctly about concurrency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371600" y="375818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race conditions and deadlocks with confidence — not just avoid them by luck.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379976"/>
            <a:ext cx="566928" cy="566928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452628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3525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design trade-offs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371600" y="465429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scheduling, memory, and file system strategies and know when each makes sense.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5276088"/>
            <a:ext cx="566928" cy="566928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" y="5422392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71600" y="5248656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 for further study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1371600" y="555040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foundation for coursework or research in computer systems.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1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Your Grade Is Calculated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00200"/>
          <a:ext cx="512064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874520"/>
            <a:ext cx="256032" cy="256032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6" name="Text 3"/>
          <p:cNvSpPr/>
          <p:nvPr/>
        </p:nvSpPr>
        <p:spPr>
          <a:xfrm>
            <a:off x="6355080" y="182880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178040" y="18288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Exam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943600" y="2770632"/>
            <a:ext cx="256032" cy="256032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9" name="Text 6"/>
          <p:cNvSpPr/>
          <p:nvPr/>
        </p:nvSpPr>
        <p:spPr>
          <a:xfrm>
            <a:off x="6355080" y="272491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178040" y="272491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OR Final Project — whichever scores higher*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943600" y="3666744"/>
            <a:ext cx="256032" cy="256032"/>
          </a:xfrm>
          <a:prstGeom prst="rect">
            <a:avLst/>
          </a:prstGeom>
          <a:solidFill>
            <a:srgbClr val="7C8CA0"/>
          </a:solidFill>
          <a:ln/>
        </p:spPr>
      </p:sp>
      <p:sp>
        <p:nvSpPr>
          <p:cNvPr id="12" name="Text 9"/>
          <p:cNvSpPr/>
          <p:nvPr/>
        </p:nvSpPr>
        <p:spPr>
          <a:xfrm>
            <a:off x="6355080" y="3621024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178040" y="3621024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— best 5 of 6 assignments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943600" y="4562856"/>
            <a:ext cx="256032" cy="256032"/>
          </a:xfrm>
          <a:prstGeom prst="rect">
            <a:avLst/>
          </a:prstGeom>
          <a:solidFill>
            <a:srgbClr val="C7CFD8"/>
          </a:solidFill>
          <a:ln/>
        </p:spPr>
      </p:sp>
      <p:sp>
        <p:nvSpPr>
          <p:cNvPr id="15" name="Text 12"/>
          <p:cNvSpPr/>
          <p:nvPr/>
        </p:nvSpPr>
        <p:spPr>
          <a:xfrm>
            <a:off x="6355080" y="4517136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178040" y="4517136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943600" y="5550408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*Both the midterm and a good-faith final-project checkpoint are required regardless of which grade is ultimately counted.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1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15-Week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88720" y="3017520"/>
            <a:ext cx="9814255" cy="0"/>
          </a:xfrm>
          <a:prstGeom prst="line">
            <a:avLst/>
          </a:prstGeom>
          <a:noFill/>
          <a:ln w="38100">
            <a:solidFill>
              <a:srgbClr val="E1E1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" y="2907792"/>
            <a:ext cx="219456" cy="219456"/>
          </a:xfrm>
          <a:prstGeom prst="ellipse">
            <a:avLst/>
          </a:prstGeom>
          <a:solidFill>
            <a:srgbClr val="1B243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3957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32461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Setup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81028" y="2907792"/>
            <a:ext cx="219456" cy="219456"/>
          </a:xfrm>
          <a:prstGeom prst="ellipse">
            <a:avLst/>
          </a:prstGeom>
          <a:solidFill>
            <a:srgbClr val="1B243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4956" y="23957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13516" y="32461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83065" y="2907792"/>
            <a:ext cx="219456" cy="219456"/>
          </a:xfrm>
          <a:prstGeom prst="ellipse">
            <a:avLst/>
          </a:prstGeom>
          <a:solidFill>
            <a:srgbClr val="1B243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06993" y="23957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15553" y="32461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85101" y="2907792"/>
            <a:ext cx="219456" cy="219456"/>
          </a:xfrm>
          <a:prstGeom prst="ellipse">
            <a:avLst/>
          </a:prstGeom>
          <a:solidFill>
            <a:srgbClr val="E8722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029" y="23957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17589" y="32461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87138" y="2907792"/>
            <a:ext cx="219456" cy="219456"/>
          </a:xfrm>
          <a:prstGeom prst="ellipse">
            <a:avLst/>
          </a:prstGeom>
          <a:solidFill>
            <a:srgbClr val="1B243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1066" y="23957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8–9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19626" y="32461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89174" y="2907792"/>
            <a:ext cx="219456" cy="219456"/>
          </a:xfrm>
          <a:prstGeom prst="ellipse">
            <a:avLst/>
          </a:prstGeom>
          <a:solidFill>
            <a:srgbClr val="1B243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13102" y="23957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21662" y="32461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491211" y="2907792"/>
            <a:ext cx="219456" cy="219456"/>
          </a:xfrm>
          <a:prstGeom prst="ellipse">
            <a:avLst/>
          </a:prstGeom>
          <a:solidFill>
            <a:srgbClr val="1B243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15139" y="23957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823699" y="32461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893247" y="2907792"/>
            <a:ext cx="219456" cy="219456"/>
          </a:xfrm>
          <a:prstGeom prst="ellipse">
            <a:avLst/>
          </a:prstGeom>
          <a:solidFill>
            <a:srgbClr val="1B243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17175" y="23957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14–15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225735" y="32461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&amp; Finals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 → Week 1: today's lecture lays the conceptual groundwork everything else builds on.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BEFORE YOU 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Policy Reference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09397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4767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56032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 smtClean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Compulsory – hopefully less than 3 absences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965960"/>
            <a:ext cx="502920" cy="502920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209397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94767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Homework Submission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37960" y="256032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Swann.Thantsin@brooklyn.cuny.edu with subject LastName_FirstName_HomeworkNumber (e.g., Thantsin_Swann_3).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51960"/>
            <a:ext cx="502920" cy="502920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4379976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23367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Work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484632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homework is penalized, and won't be accepted past a certain point — aim to submit on time.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63640" y="39776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4251960"/>
            <a:ext cx="502920" cy="502920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976" y="4379976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23367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537960" y="484632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freely with peers, but all code must be written individually.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1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2194560"/>
            <a:ext cx="2011680" cy="2011680"/>
          </a:xfrm>
          <a:prstGeom prst="ellipse">
            <a:avLst/>
          </a:prstGeom>
          <a:solidFill>
            <a:srgbClr val="27334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278892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22960" y="315468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Operating Systems Exist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2296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bare metal to a formal definition, and a short history.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WHY OS EXIST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 Without an Operating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writing a program for bare hardware — no OS at all. You'd personally have to: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526030" cy="283464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45059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59689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10896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Talk directly to every device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3474720"/>
            <a:ext cx="201396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own disk driver, keyboard driver, and network driver — from scratch, for every program.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94710" y="2194560"/>
            <a:ext cx="2526030" cy="283464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0742" y="245059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7046" y="259689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0742" y="310896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Referee every other program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50742" y="3474720"/>
            <a:ext cx="201396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for yourself when to yield the CPU, and trust every other program to do the same.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40780" y="2194560"/>
            <a:ext cx="2526030" cy="283464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96812" y="245059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259689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96812" y="310896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 your own protection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96812" y="3474720"/>
            <a:ext cx="201396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stops another buggy program from overwriting your memory or reading your data.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86850" y="2194560"/>
            <a:ext cx="2526030" cy="283464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42882" y="245059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9186" y="2596896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42882" y="310896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storage by hand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342882" y="3474720"/>
            <a:ext cx="201396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which physical disk blocks are free, and organize them into something like a "file" yourself.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operating system exists to take all of this off your hands — permanently, and for every program that runs.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1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WHY OS EXIST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an Operating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single sentence that captures it — most textbooks describe an OS from three angles at once: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60320"/>
            <a:ext cx="594360" cy="594360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72491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Resource Manager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397764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Allocates CPU time, memory, storage, and devices among competing programs — fairly, safely, and efficiently.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89120" y="22860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1B2430"/>
          </a:solidFill>
          <a:ln w="12700">
            <a:solidFill>
              <a:srgbClr val="00000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2560320"/>
            <a:ext cx="594360" cy="594360"/>
          </a:xfrm>
          <a:prstGeom prst="ellipse">
            <a:avLst/>
          </a:prstGeom>
          <a:solidFill>
            <a:srgbClr val="273347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72491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333756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Abstraction / Extended Machine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663440" y="397764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ugly hardware details (disk sectors, memory addresses) into clean concepts: files, processes, virtual memory.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229600" y="22860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03920" y="2560320"/>
            <a:ext cx="594360" cy="594360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8512" y="272491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03920" y="333756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Control Program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503920" y="397764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Supervises the execution of user programs to prevent errors and improper use of the computer.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1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WHY OS EXIST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Brief History of Operating Systems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2743200"/>
            <a:ext cx="10362895" cy="0"/>
          </a:xfrm>
          <a:prstGeom prst="line">
            <a:avLst/>
          </a:prstGeom>
          <a:noFill/>
          <a:ln w="38100">
            <a:solidFill>
              <a:srgbClr val="E1E1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651760"/>
            <a:ext cx="182880" cy="182880"/>
          </a:xfrm>
          <a:prstGeom prst="ellipse">
            <a:avLst/>
          </a:prstGeom>
          <a:solidFill>
            <a:srgbClr val="1B243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" y="2240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" y="2971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Processing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" y="3364992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fed stacked "jobs" via punch cards; one job ran fully before the next — no interaction, lots of idle CPU.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13684" y="2651760"/>
            <a:ext cx="182880" cy="182880"/>
          </a:xfrm>
          <a:prstGeom prst="ellipse">
            <a:avLst/>
          </a:prstGeom>
          <a:solidFill>
            <a:srgbClr val="1B243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36444" y="2240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36444" y="2971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Multiprogramming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36444" y="3364992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jobs held in memory at once; the OS switches to another job whenever one waits on I/O, keeping the CPU busy.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04408" y="2651760"/>
            <a:ext cx="182880" cy="182880"/>
          </a:xfrm>
          <a:prstGeom prst="ellipse">
            <a:avLst/>
          </a:prstGeom>
          <a:solidFill>
            <a:srgbClr val="1B243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27168" y="2240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27168" y="2971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Time-Sharing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27168" y="3364992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 rapidly switches between users' terminals, giving each the illusion of a personal, responsive machine.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595131" y="2651760"/>
            <a:ext cx="182880" cy="182880"/>
          </a:xfrm>
          <a:prstGeom prst="ellipse">
            <a:avLst/>
          </a:prstGeom>
          <a:solidFill>
            <a:srgbClr val="1B243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7891" y="2240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1980s–90s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17891" y="2971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Computing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17891" y="3364992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user, one machine — OS focus shifts to usability, GUIs, and a rich ecosystem of applications.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1185855" y="2651760"/>
            <a:ext cx="182880" cy="182880"/>
          </a:xfrm>
          <a:prstGeom prst="ellipse">
            <a:avLst/>
          </a:prstGeom>
          <a:solidFill>
            <a:srgbClr val="1B243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08615" y="2240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2000s–Now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408615" y="2971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&amp; Cloud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408615" y="3364992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concepts scale down to phones (power, sensors) and up to datacenters (virtualization, containers, orchestration).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WHY OS EXIST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Need an Operating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26030" cy="301752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8483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23113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74320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Sharing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01396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programs, one CPU/memory/disk — the OS decides who gets what, and when.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94710" y="1828800"/>
            <a:ext cx="2526030" cy="301752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0742" y="208483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7046" y="223113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0742" y="274320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Protection &amp; Isolation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50742" y="3108960"/>
            <a:ext cx="201396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one program's bugs (or malice) from corrupting another program or the OS itself.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40780" y="1828800"/>
            <a:ext cx="2526030" cy="301752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6812" y="208483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223113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6812" y="274320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Convenience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96812" y="3108960"/>
            <a:ext cx="201396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clean, consistent interface so programmers don't reinvent device handling for every app.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86850" y="1828800"/>
            <a:ext cx="2526030" cy="301752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42882" y="208483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9186" y="2231136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42882" y="274320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Abstraction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342882" y="3108960"/>
            <a:ext cx="201396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wildly different hardware behind uniform concepts — the same read() call works on a disk or a network socket.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1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2194560"/>
            <a:ext cx="2011680" cy="2011680"/>
          </a:xfrm>
          <a:prstGeom prst="ellipse">
            <a:avLst/>
          </a:prstGeom>
          <a:solidFill>
            <a:srgbClr val="27334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278892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22960" y="315468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Kernel Space, User Space &amp; System Calls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2296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 every OS enforces, and how it's crossed.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KERNEL &amp; USER SPACE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Kernel Space vs. User Space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" y="1691640"/>
            <a:ext cx="99669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SPACE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214884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your programs run — shells, Python scripts, browsers, editors. Restricted: no direct hardware access.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283464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5F5F4"/>
          </a:solidFill>
          <a:ln w="12700">
            <a:solidFill>
              <a:srgbClr val="E1E1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834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shell.py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283464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5F5F4"/>
          </a:solidFill>
          <a:ln w="12700">
            <a:solidFill>
              <a:srgbClr val="E1E1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2834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web browser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32320" y="283464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5F5F4"/>
          </a:solidFill>
          <a:ln w="12700">
            <a:solidFill>
              <a:srgbClr val="E1E1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0" y="2834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text editor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35661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calls ↓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97280" y="4023360"/>
            <a:ext cx="9966960" cy="1965960"/>
          </a:xfrm>
          <a:prstGeom prst="roundRect">
            <a:avLst>
              <a:gd name="adj" fmla="val 4651"/>
            </a:avLst>
          </a:prstGeom>
          <a:solidFill>
            <a:srgbClr val="1B2430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41788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SPACE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0" y="4507992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core of the OS — the only code allowed to talk directly to hardware (CPU, memory, disk, network).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371600" y="516636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273347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51663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11880" y="516636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273347"/>
          </a:solidFill>
          <a:ln/>
        </p:spPr>
      </p:sp>
      <p:sp>
        <p:nvSpPr>
          <p:cNvPr id="20" name="Text 18"/>
          <p:cNvSpPr/>
          <p:nvPr/>
        </p:nvSpPr>
        <p:spPr>
          <a:xfrm>
            <a:off x="3611880" y="51663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 manager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852160" y="516636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273347"/>
          </a:solidFill>
          <a:ln/>
        </p:spPr>
      </p:sp>
      <p:sp>
        <p:nvSpPr>
          <p:cNvPr id="22" name="Text 20"/>
          <p:cNvSpPr/>
          <p:nvPr/>
        </p:nvSpPr>
        <p:spPr>
          <a:xfrm>
            <a:off x="5852160" y="51663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system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92440" y="516636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273347"/>
          </a:solidFill>
          <a:ln/>
        </p:spPr>
      </p:sp>
      <p:sp>
        <p:nvSpPr>
          <p:cNvPr id="24" name="Text 22"/>
          <p:cNvSpPr/>
          <p:nvPr/>
        </p:nvSpPr>
        <p:spPr>
          <a:xfrm>
            <a:off x="8092440" y="51663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drivers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KERNEL &amp; USER SPACE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Operating System Actually Manages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B2430"/>
          </a:solidFill>
          <a:ln w="12700">
            <a:solidFill>
              <a:srgbClr val="00000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566928" cy="566928"/>
          </a:xfrm>
          <a:prstGeom prst="ellipse">
            <a:avLst/>
          </a:prstGeom>
          <a:solidFill>
            <a:srgbClr val="27334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09397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0604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Processes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04672" y="2971800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running, and in what order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45152" y="194767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09397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45152" y="260604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CPU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45152" y="2971800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whose turn it is to execute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0" y="1691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B2430"/>
          </a:solidFill>
          <a:ln w="12700">
            <a:solidFill>
              <a:srgbClr val="00000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85632" y="1947672"/>
            <a:ext cx="566928" cy="566928"/>
          </a:xfrm>
          <a:prstGeom prst="ellipse">
            <a:avLst/>
          </a:prstGeom>
          <a:solidFill>
            <a:srgbClr val="273347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1936" y="209397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85632" y="260604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485632" y="2971800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Allocating and protecting address spaces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18795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4334256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84632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804672" y="5212080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data into files and directories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89120" y="39319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B2430"/>
          </a:solidFill>
          <a:ln w="12700">
            <a:solidFill>
              <a:srgbClr val="00000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45152" y="4187952"/>
            <a:ext cx="566928" cy="566928"/>
          </a:xfrm>
          <a:prstGeom prst="ellipse">
            <a:avLst/>
          </a:prstGeom>
          <a:solidFill>
            <a:srgbClr val="273347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1456" y="4334256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45152" y="484632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Concurrency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4645152" y="5212080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simultaneous access safe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229600" y="39319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85632" y="418795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1936" y="4334256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85632" y="484632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I/O &amp; Devices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8485632" y="5212080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Mediating access to disks, network, peripherals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1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KERNEL &amp; USER SPACE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Calls: The Boundary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Python Code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2971800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open('file.txt')</a:t>
            </a:r>
            <a:endParaRPr lang="en-US" sz="9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032" y="2761488"/>
            <a:ext cx="201168" cy="2377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70632" y="210312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907792" y="23317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/ libc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880360" y="2971800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os.open() wrapper</a:t>
            </a:r>
            <a:endParaRPr lang="en-US" sz="9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024" y="2761488"/>
            <a:ext cx="201168" cy="2377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992624" y="210312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1B2430"/>
          </a:solidFill>
          <a:ln w="12700">
            <a:solidFill>
              <a:srgbClr val="00000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129784" y="23317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Call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102352" y="2971800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syscall #2 (open)</a:t>
            </a:r>
            <a:endParaRPr lang="en-US" sz="9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016" y="2761488"/>
            <a:ext cx="201168" cy="2377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214616" y="210312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7351776" y="23317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Kernel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324344" y="2971800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checks permissions, does the work</a:t>
            </a:r>
            <a:endParaRPr lang="en-US" sz="9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8008" y="2761488"/>
            <a:ext cx="201168" cy="23774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436608" y="210312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9573768" y="23317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9546336" y="2971800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disk controller reads data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548640" y="402336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OS mechanism you'll build this semester — the shell, the scheduler, the file system — ultimately rests on this boundary. In user-space Python, we cross it through the os, subprocess, threading, and mmap modules instead of writing kernel code directly.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1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KERNEL &amp; USER SPACE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Categories of System Calls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9339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13969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51760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Control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3017520"/>
            <a:ext cx="29626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fork, exec, wait, exit, kill — creating and managing processes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737360"/>
            <a:ext cx="34747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9432" y="199339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213969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9432" y="2651760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Management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99432" y="3017520"/>
            <a:ext cx="29626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read, write, close, seek — working with files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737360"/>
            <a:ext cx="34747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94192" y="199339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0496" y="213969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94192" y="2651760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 Management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94192" y="3017520"/>
            <a:ext cx="29626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ioctl, read, write on device files — talking to hardware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206240"/>
            <a:ext cx="34747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46227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4608576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5120640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Maintenance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04672" y="5486400"/>
            <a:ext cx="29626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getpid, alarm, sleep — querying and setting system data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43400" y="4206240"/>
            <a:ext cx="34747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9432" y="446227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5736" y="4608576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99432" y="5120640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99432" y="5486400"/>
            <a:ext cx="29626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pipe, socket, send, recv — exchanging data between processes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1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KERNEL &amp; USER SPACE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System Call Works, Step by Step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67335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code calls a library function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34440" y="198424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Python's os.open() wraps the real syscall in a friendlier interface.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502920" cy="50292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32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51460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library issues a trap instruction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34440" y="2825496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special CPU instruction that deliberately switches from user mode to kernel mode.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74136"/>
            <a:ext cx="502920" cy="50292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741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35584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CPU looks up the syscall table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34440" y="366674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syscall number (passed in a register) indexes into the kernel's table of handlers.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215384"/>
            <a:ext cx="502920" cy="50292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153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197096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kernel handler runs, in kernel mode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34440" y="450799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trusted, it can touch hardware directly — checking permissions along the way.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056632"/>
            <a:ext cx="502920" cy="50292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056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5038344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returns to user mode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234440" y="53492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(or an error code) comes back, and your program continues.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2194560"/>
            <a:ext cx="2011680" cy="2011680"/>
          </a:xfrm>
          <a:prstGeom prst="ellipse">
            <a:avLst/>
          </a:prstGeom>
          <a:solidFill>
            <a:srgbClr val="27334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278892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22960" y="315468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Operating Systems Are Built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2296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concurrency terminology, interrupts, and booting.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HOW OS ARE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Structure: Four Common Designs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26030" cy="329184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8483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23113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74320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Monolithic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01396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OS — scheduler, file system, drivers — runs as one large program in kernel space. Fast, but a bug anywhere can crash everything. (Linux's core design.)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94710" y="1828800"/>
            <a:ext cx="2526030" cy="329184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0742" y="208483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7046" y="223113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0742" y="274320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Microkernel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50742" y="3108960"/>
            <a:ext cx="201396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bare essentials (IPC, basic scheduling) run in kernel space; file systems and drivers run as user-space services. Safer, with some performance cost.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40780" y="1828800"/>
            <a:ext cx="2526030" cy="329184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6812" y="208483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223113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6812" y="274320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96812" y="3108960"/>
            <a:ext cx="201396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 is built as a stack of layers, each using only the layer below it. Clean and easy to debug, but rigid and often slower.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86850" y="1828800"/>
            <a:ext cx="2526030" cy="329184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42882" y="208483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9186" y="2231136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42882" y="274320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342882" y="3108960"/>
            <a:ext cx="201396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Mixes ideas from the above — a small trusted core plus selected services in kernel space for speed. (Most modern desktop OSes.)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1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HOW OS ARE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Multiprogramming, Multitasking, Multiprocessing &amp; Multithreading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26030" cy="301752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7627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32257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83464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Multiprogramming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3200400"/>
            <a:ext cx="201396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programs sit in memory at once, so the CPU always has something to run when one program blocks on I/O.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94710" y="1920240"/>
            <a:ext cx="2526030" cy="301752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0742" y="217627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7046" y="232257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0742" y="283464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Multitasking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50742" y="3200400"/>
            <a:ext cx="201396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illusion of running many programs "at once" on one CPU, by rapidly switching between them (time-slicing).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40780" y="1920240"/>
            <a:ext cx="2526030" cy="301752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6812" y="217627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232257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6812" y="283464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Multiprocessing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96812" y="3200400"/>
            <a:ext cx="201396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Truly simultaneous execution — the system has more than one physical CPU (or core) to run on.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86850" y="1920240"/>
            <a:ext cx="2526030" cy="301752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42882" y="2176272"/>
            <a:ext cx="566928" cy="566928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9186" y="2322576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42882" y="2834640"/>
            <a:ext cx="20139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Multithreading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342882" y="3200400"/>
            <a:ext cx="201396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process runs multiple threads that share its memory, letting parts of one program run concurrently.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terms get mixed up constantly — the difference between "feels simultaneous" (multitasking) and "is simultaneous" (multiprocessing) is one you'll come back to all semester.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1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HOW OS ARE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Interrupts: How the OS Reacts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interrupt is a signal that stops the CPU's current work to handle something urgent — it's how the OS stays responsive instead of constantly polling.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492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60320"/>
            <a:ext cx="548640" cy="548640"/>
          </a:xfrm>
          <a:prstGeom prst="ellipse">
            <a:avLst/>
          </a:prstGeom>
          <a:solidFill>
            <a:srgbClr val="F5F5F4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70662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461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Interrupts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703320"/>
            <a:ext cx="4800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is pressed on the keyboard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disk finishes a read request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packet arrives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timer fires (for scheduling)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2286000"/>
            <a:ext cx="5349240" cy="3200400"/>
          </a:xfrm>
          <a:prstGeom prst="roundRect">
            <a:avLst>
              <a:gd name="adj" fmla="val 2857"/>
            </a:avLst>
          </a:prstGeom>
          <a:solidFill>
            <a:srgbClr val="1B2430"/>
          </a:solidFill>
          <a:ln/>
        </p:spPr>
      </p:sp>
      <p:sp>
        <p:nvSpPr>
          <p:cNvPr id="11" name="Shape 8"/>
          <p:cNvSpPr/>
          <p:nvPr/>
        </p:nvSpPr>
        <p:spPr>
          <a:xfrm>
            <a:off x="6537960" y="2560320"/>
            <a:ext cx="548640" cy="548640"/>
          </a:xfrm>
          <a:prstGeom prst="ellipse">
            <a:avLst/>
          </a:prstGeom>
          <a:solidFill>
            <a:srgbClr val="273347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270662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37960" y="32461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Interrupts (Traps)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537960" y="3703320"/>
            <a:ext cx="4800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executes a system call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divides by zero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accesses invalid memory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deliberately to enter the kernel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1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HOW OS ARE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Boot Process, Briefly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965960" cy="20116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9012" y="2423160"/>
            <a:ext cx="585216" cy="585216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316" y="256946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1089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Firmware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8368" y="3429000"/>
            <a:ext cx="17465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BIOS/UEFI runs first, does hardware checks, and finds a bootable device.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032" y="3081528"/>
            <a:ext cx="201168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70632" y="2194560"/>
            <a:ext cx="1965960" cy="20116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461004" y="2423160"/>
            <a:ext cx="585216" cy="585216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7308" y="2569464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862072" y="31089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Bootloader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2880360" y="3429000"/>
            <a:ext cx="17465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program (e.g., GRUB) loads the OS kernel from disk into memory.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3081528"/>
            <a:ext cx="201168" cy="23774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992624" y="2194560"/>
            <a:ext cx="1965960" cy="20116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5682996" y="2423160"/>
            <a:ext cx="585216" cy="585216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569464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084064" y="31089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Kernel Init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5102352" y="3429000"/>
            <a:ext cx="17465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kernel initializes drivers, memory management, and the scheduler.</a:t>
            </a:r>
            <a:endParaRPr lang="en-US" sz="10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016" y="3081528"/>
            <a:ext cx="201168" cy="23774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214616" y="2194560"/>
            <a:ext cx="1965960" cy="20116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7904988" y="2423160"/>
            <a:ext cx="585216" cy="585216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1292" y="2569464"/>
            <a:ext cx="292608" cy="29260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306056" y="31089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 Process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7324344" y="3429000"/>
            <a:ext cx="17465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kernel starts the first user-space process, which brings up services.</a:t>
            </a:r>
            <a:endParaRPr lang="en-US" sz="10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8008" y="3081528"/>
            <a:ext cx="201168" cy="237744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9436608" y="2194560"/>
            <a:ext cx="1965960" cy="20116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10126980" y="2423160"/>
            <a:ext cx="585216" cy="585216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73284" y="2569464"/>
            <a:ext cx="292608" cy="29260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528048" y="31089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/ Shell</a:t>
            </a:r>
            <a:endParaRPr lang="en-US" sz="1300" dirty="0"/>
          </a:p>
        </p:txBody>
      </p:sp>
      <p:sp>
        <p:nvSpPr>
          <p:cNvPr id="32" name="Text 21"/>
          <p:cNvSpPr/>
          <p:nvPr/>
        </p:nvSpPr>
        <p:spPr>
          <a:xfrm>
            <a:off x="9546336" y="3429000"/>
            <a:ext cx="17465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a login prompt — the system is now ready for user programs.</a:t>
            </a:r>
            <a:endParaRPr lang="en-US" sz="1000" dirty="0"/>
          </a:p>
        </p:txBody>
      </p:sp>
      <p:sp>
        <p:nvSpPr>
          <p:cNvPr id="33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1</a:t>
            </a:r>
            <a:endParaRPr lang="en-US" sz="900" dirty="0"/>
          </a:p>
        </p:txBody>
      </p:sp>
      <p:sp>
        <p:nvSpPr>
          <p:cNvPr id="34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Python, User-Space Only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can't do real kernel-space work — no direct hardware access, no interrupt handling, no raw memory management. So this course takes a different, still hands-on path: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0604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THIS COURSE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Kernel-level development (C, xv6/Pintos-style)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4800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✖"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 bootable kernel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✖"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interrupt/hardware handling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✖"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page-table manipulation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237744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1B2430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260604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29718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User-space systems programming, real syscalls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3566160"/>
            <a:ext cx="4800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✔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fork/exec/wait via the os module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✔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threads &amp; processes (threading, multiprocessing)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✔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memory-mapped files (mmap)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106424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✦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OS exists to manage resources, provide abstractions, and protect programs from each other.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✦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space is trusted and touches hardware directly; user space is restricted and must ask via system calls.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✦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call is a controlled, mode-switching request — the only door between your code and the kernel.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✦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OSes are structured differently (monolithic, microkernel, layered, hybrid) with real speed/safety trade-offs.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✦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Multitasking, multiprogramming, multiprocessing, and multithreading are related but distinct ideas.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✦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builds all of this hands-on in Python, using real system calls from user space.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3320 · Operating Systems · Lecture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914400"/>
            <a:ext cx="2011680" cy="2011680"/>
          </a:xfrm>
          <a:prstGeom prst="ellipse">
            <a:avLst/>
          </a:prstGeom>
          <a:solidFill>
            <a:srgbClr val="27334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150876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22960" y="274320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Lecture: Environment &amp; Tooling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22960" y="37490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set up VirtualBox, Debian, Git, and Python — and start HW1.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Swann.Thantsin@brooklyn.cuny.edu  •  Office Hours: Thursday 5:30–6:30 PM, 2109 Ingersoll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2494</Words>
  <Application>Microsoft Office PowerPoint</Application>
  <PresentationFormat>Custom</PresentationFormat>
  <Paragraphs>377</Paragraphs>
  <Slides>27</Slides>
  <Notes>27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Swann Thantsin</cp:lastModifiedBy>
  <cp:revision>2</cp:revision>
  <dcterms:created xsi:type="dcterms:W3CDTF">2026-09-02T23:34:39Z</dcterms:created>
  <dcterms:modified xsi:type="dcterms:W3CDTF">2026-09-02T23:44:02Z</dcterms:modified>
</cp:coreProperties>
</file>